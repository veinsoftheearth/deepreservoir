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sldIdLst>
    <p:sldId id="256" r:id="rId2"/>
  </p:sldIdLst>
  <p:sldSz cx="310896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543"/>
    <a:srgbClr val="0011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2"/>
    <p:restoredTop sz="96405"/>
  </p:normalViewPr>
  <p:slideViewPr>
    <p:cSldViewPr snapToGrid="0">
      <p:cViewPr varScale="1">
        <p:scale>
          <a:sx n="34" d="100"/>
          <a:sy n="34" d="100"/>
        </p:scale>
        <p:origin x="9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1720" y="3591562"/>
            <a:ext cx="2642616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6200" y="11526522"/>
            <a:ext cx="233172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1A511-D92B-004B-9326-A5A721B4F414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C377-8991-4F4A-AC19-C3754136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1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1A511-D92B-004B-9326-A5A721B4F414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C377-8991-4F4A-AC19-C3754136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95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1219" y="5471167"/>
            <a:ext cx="2681478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219" y="14686287"/>
            <a:ext cx="2681478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/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1A511-D92B-004B-9326-A5A721B4F414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C377-8991-4F4A-AC19-C3754136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95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37410" y="5842000"/>
            <a:ext cx="1321308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39110" y="5842000"/>
            <a:ext cx="1321308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1A511-D92B-004B-9326-A5A721B4F414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C377-8991-4F4A-AC19-C3754136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2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59" y="1168405"/>
            <a:ext cx="2681478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1463" y="5379722"/>
            <a:ext cx="13152356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41463" y="8016240"/>
            <a:ext cx="13152356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739112" y="5379722"/>
            <a:ext cx="13217129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739112" y="8016240"/>
            <a:ext cx="13217129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1A511-D92B-004B-9326-A5A721B4F414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C377-8991-4F4A-AC19-C3754136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31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1A511-D92B-004B-9326-A5A721B4F414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C377-8991-4F4A-AC19-C3754136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48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1A511-D92B-004B-9326-A5A721B4F414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C377-8991-4F4A-AC19-C3754136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85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60" y="1463040"/>
            <a:ext cx="10027205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17129" y="3159765"/>
            <a:ext cx="1573911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1460" y="6583680"/>
            <a:ext cx="10027205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1A511-D92B-004B-9326-A5A721B4F414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C377-8991-4F4A-AC19-C3754136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460" y="1463040"/>
            <a:ext cx="10027205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217129" y="3159765"/>
            <a:ext cx="1573911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1460" y="6583680"/>
            <a:ext cx="10027205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1A511-D92B-004B-9326-A5A721B4F414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C377-8991-4F4A-AC19-C3754136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57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1A511-D92B-004B-9326-A5A721B4F414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C377-8991-4F4A-AC19-C3754136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1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248497" y="1168400"/>
            <a:ext cx="6703695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7412" y="1168400"/>
            <a:ext cx="19722465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1A511-D92B-004B-9326-A5A721B4F414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C377-8991-4F4A-AC19-C3754136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4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484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7410" y="1168405"/>
            <a:ext cx="2681478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7410" y="5842000"/>
            <a:ext cx="2681478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37410" y="20340325"/>
            <a:ext cx="69951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1A511-D92B-004B-9326-A5A721B4F414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98430" y="20340325"/>
            <a:ext cx="104927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957030" y="20340325"/>
            <a:ext cx="69951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0C377-8991-4F4A-AC19-C3754136E56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Sentinel 2 satellite image acquired on June 6, 2018 of the north slope of Alaska.">
            <a:extLst>
              <a:ext uri="{FF2B5EF4-FFF2-40B4-BE49-F238E27FC236}">
                <a16:creationId xmlns:a16="http://schemas.microsoft.com/office/drawing/2014/main" id="{F1C1C566-A4B4-9203-322B-7DF4AFCF6D2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09" b="58098"/>
          <a:stretch/>
        </p:blipFill>
        <p:spPr bwMode="auto">
          <a:xfrm>
            <a:off x="-1" y="-3220"/>
            <a:ext cx="31089601" cy="183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FC056D-0A3F-936D-3A4E-D3A65F7914FF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23851" y="-92260"/>
            <a:ext cx="2040255" cy="19472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3531F4-D62B-1491-F74B-A049452F1070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26407478" y="496167"/>
            <a:ext cx="4353500" cy="69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38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973521D-DECB-5D88-2F39-8A96C96DF3ED}"/>
              </a:ext>
            </a:extLst>
          </p:cNvPr>
          <p:cNvSpPr/>
          <p:nvPr/>
        </p:nvSpPr>
        <p:spPr>
          <a:xfrm>
            <a:off x="12658725" y="3397827"/>
            <a:ext cx="17945100" cy="1037532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747816-E345-B5C3-54E2-F6E84FD76E81}"/>
              </a:ext>
            </a:extLst>
          </p:cNvPr>
          <p:cNvSpPr txBox="1"/>
          <p:nvPr/>
        </p:nvSpPr>
        <p:spPr>
          <a:xfrm>
            <a:off x="12616298" y="1966480"/>
            <a:ext cx="13295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>
                <a:solidFill>
                  <a:schemeClr val="bg1"/>
                </a:solidFill>
                <a:latin typeface="Bahnschrift Condensed" panose="020B0502040204020203" pitchFamily="34" charset="0"/>
              </a:rPr>
              <a:t>Results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7AC2-F8F4-D355-A6CE-6F16C8B04C51}"/>
              </a:ext>
            </a:extLst>
          </p:cNvPr>
          <p:cNvSpPr/>
          <p:nvPr/>
        </p:nvSpPr>
        <p:spPr>
          <a:xfrm>
            <a:off x="464126" y="3397827"/>
            <a:ext cx="11776364" cy="360304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E4D95-5187-267C-D003-36AAF0E2EC0A}"/>
              </a:ext>
            </a:extLst>
          </p:cNvPr>
          <p:cNvSpPr txBox="1"/>
          <p:nvPr/>
        </p:nvSpPr>
        <p:spPr>
          <a:xfrm>
            <a:off x="3636589" y="97611"/>
            <a:ext cx="22287229" cy="168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4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Recent streamflow trends across permafrost basins of North America</a:t>
            </a:r>
            <a:endParaRPr lang="en-US" sz="3245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164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Katrina Bennett</a:t>
            </a:r>
            <a:r>
              <a:rPr lang="en-US" sz="2164" baseline="30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64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Jon Schwenk</a:t>
            </a:r>
            <a:r>
              <a:rPr lang="en-US" sz="2164" baseline="30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64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Claire Bachand</a:t>
            </a:r>
            <a:r>
              <a:rPr lang="en-US" sz="2164" baseline="30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64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Eve Gasarch</a:t>
            </a:r>
            <a:r>
              <a:rPr lang="en-US" sz="2164" baseline="30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64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Jemma Stachelek</a:t>
            </a:r>
            <a:r>
              <a:rPr lang="en-US" sz="2164" baseline="30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164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William R. Bolton</a:t>
            </a:r>
            <a:r>
              <a:rPr lang="en-US" sz="2164" baseline="30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164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Joel C. Rowland</a:t>
            </a:r>
            <a:r>
              <a:rPr lang="en-US" sz="2164" baseline="30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352" i="1" baseline="3000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lang="en-US" sz="1352" i="1">
                <a:solidFill>
                  <a:schemeClr val="bg1"/>
                </a:solidFill>
                <a:latin typeface="Arial"/>
                <a:cs typeface="Arial"/>
              </a:rPr>
              <a:t> Los Alamos National Laboratory</a:t>
            </a:r>
            <a:endParaRPr lang="en-US" sz="1352" i="1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r>
              <a:rPr lang="en-US" sz="1352" i="1" baseline="30000">
                <a:solidFill>
                  <a:schemeClr val="bg1"/>
                </a:solidFill>
                <a:latin typeface="Arial"/>
                <a:cs typeface="Arial"/>
              </a:rPr>
              <a:t>2 </a:t>
            </a:r>
            <a:r>
              <a:rPr lang="en-US" sz="1352" i="1">
                <a:solidFill>
                  <a:schemeClr val="bg1"/>
                </a:solidFill>
                <a:latin typeface="Arial"/>
                <a:cs typeface="Arial"/>
              </a:rPr>
              <a:t>International Arctic Research Center, University of Alaska, Fairbanks </a:t>
            </a:r>
            <a:endParaRPr lang="en-US" sz="1352" i="1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r>
              <a:rPr lang="en-US" sz="1352" b="1" i="1" dirty="0">
                <a:solidFill>
                  <a:schemeClr val="bg1"/>
                </a:solidFill>
                <a:latin typeface="Arial"/>
                <a:cs typeface="Arial"/>
              </a:rPr>
              <a:t>Contact information</a:t>
            </a:r>
            <a:r>
              <a:rPr lang="en-US" sz="1352" b="1" i="1">
                <a:solidFill>
                  <a:schemeClr val="bg1"/>
                </a:solidFill>
                <a:latin typeface="Arial"/>
                <a:cs typeface="Arial"/>
              </a:rPr>
              <a:t>: kbennett@lanl.gov</a:t>
            </a:r>
            <a:endParaRPr lang="en-US" sz="1352" b="1" i="1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endParaRPr lang="en-US" sz="1352" baseline="30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53EF1-0FE8-6B31-73E9-10E1871C4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0675" y="3744827"/>
            <a:ext cx="5667829" cy="5943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F21B27-DB70-EFBE-4E60-CEF615CC4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0083" y="3744827"/>
            <a:ext cx="5736866" cy="5943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7C86F5-9E70-6F0B-83B6-09DC6412A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28527" y="3744827"/>
            <a:ext cx="5148000" cy="5943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F37275-5C43-AFCE-1D32-91AB8FE0C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03067" y="9933539"/>
            <a:ext cx="7473316" cy="354787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605A1ED-EDC9-B74D-2EF3-073F6EDC6C6D}"/>
              </a:ext>
            </a:extLst>
          </p:cNvPr>
          <p:cNvSpPr txBox="1"/>
          <p:nvPr/>
        </p:nvSpPr>
        <p:spPr>
          <a:xfrm>
            <a:off x="319524" y="1988127"/>
            <a:ext cx="56526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>
                <a:solidFill>
                  <a:schemeClr val="bg1"/>
                </a:solidFill>
                <a:latin typeface="Bahnschrift Condensed" panose="020B0502040204020203" pitchFamily="34" charset="0"/>
              </a:rPr>
              <a:t>Motivation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A22DB7-3E63-F00D-299B-C781F49E3B0F}"/>
              </a:ext>
            </a:extLst>
          </p:cNvPr>
          <p:cNvSpPr txBox="1"/>
          <p:nvPr/>
        </p:nvSpPr>
        <p:spPr>
          <a:xfrm>
            <a:off x="514351" y="3435060"/>
            <a:ext cx="1168717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u="none" strike="noStrike" baseline="0">
                <a:solidFill>
                  <a:schemeClr val="bg1"/>
                </a:solidFill>
                <a:latin typeface="Bahnschrift" panose="020B0502040204020203" pitchFamily="34" charset="0"/>
              </a:rPr>
              <a:t>Climate change impacts, including changing temperatures, precipitation, and vegetation, are widely anticipated to cause major shifts to permafrost with resulting impacts to hydro-ecosystems across the high latitudes of the globe. However, it is challenging to examine streamflow shifts in these regions owing to a paucity of data, discontinuity of records, and other issues related to data consistency and accuracy. A first step toward understanding how climate impacts permafrost hydrology is understanding how it already has.</a:t>
            </a:r>
            <a:endParaRPr lang="en-US" sz="280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E71560-A469-A917-8568-BB53CC85A2F3}"/>
              </a:ext>
            </a:extLst>
          </p:cNvPr>
          <p:cNvSpPr/>
          <p:nvPr/>
        </p:nvSpPr>
        <p:spPr>
          <a:xfrm>
            <a:off x="17116425" y="19602451"/>
            <a:ext cx="13479607" cy="180022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AF2679-D84D-7CFB-4D9A-63E777FCD912}"/>
              </a:ext>
            </a:extLst>
          </p:cNvPr>
          <p:cNvSpPr txBox="1"/>
          <p:nvPr/>
        </p:nvSpPr>
        <p:spPr>
          <a:xfrm>
            <a:off x="12616298" y="19667394"/>
            <a:ext cx="56526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>
                <a:solidFill>
                  <a:schemeClr val="bg1"/>
                </a:solidFill>
                <a:latin typeface="Bahnschrift Condensed" panose="020B0502040204020203" pitchFamily="34" charset="0"/>
              </a:rPr>
              <a:t>References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F00821-A8DC-B695-DB9C-29510DDFE6F4}"/>
              </a:ext>
            </a:extLst>
          </p:cNvPr>
          <p:cNvSpPr txBox="1"/>
          <p:nvPr/>
        </p:nvSpPr>
        <p:spPr>
          <a:xfrm>
            <a:off x="319524" y="13386088"/>
            <a:ext cx="56526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>
                <a:solidFill>
                  <a:schemeClr val="bg1"/>
                </a:solidFill>
                <a:latin typeface="Bahnschrift Condensed" panose="020B0502040204020203" pitchFamily="34" charset="0"/>
              </a:rPr>
              <a:t>Methods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A1B6E4-477D-C36B-7BF9-D3DF68C8E798}"/>
              </a:ext>
            </a:extLst>
          </p:cNvPr>
          <p:cNvSpPr/>
          <p:nvPr/>
        </p:nvSpPr>
        <p:spPr>
          <a:xfrm>
            <a:off x="464126" y="14916151"/>
            <a:ext cx="11776364" cy="671512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2C8336-A425-CF58-B242-B6B3C8ADF752}"/>
              </a:ext>
            </a:extLst>
          </p:cNvPr>
          <p:cNvSpPr txBox="1"/>
          <p:nvPr/>
        </p:nvSpPr>
        <p:spPr>
          <a:xfrm>
            <a:off x="319524" y="7141152"/>
            <a:ext cx="56526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>
                <a:solidFill>
                  <a:schemeClr val="bg1"/>
                </a:solidFill>
                <a:latin typeface="Bahnschrift Condensed" panose="020B0502040204020203" pitchFamily="34" charset="0"/>
              </a:rPr>
              <a:t>Objectives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8B3DAD-B3E6-0B02-36F9-A14704EFA02D}"/>
              </a:ext>
            </a:extLst>
          </p:cNvPr>
          <p:cNvSpPr/>
          <p:nvPr/>
        </p:nvSpPr>
        <p:spPr>
          <a:xfrm>
            <a:off x="464126" y="8579427"/>
            <a:ext cx="11776364" cy="467937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8A7B1EE-89E2-F190-5AB8-9FD8E0384907}"/>
              </a:ext>
            </a:extLst>
          </p:cNvPr>
          <p:cNvSpPr/>
          <p:nvPr/>
        </p:nvSpPr>
        <p:spPr>
          <a:xfrm>
            <a:off x="12639675" y="15226145"/>
            <a:ext cx="17945100" cy="391910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9CE5B7-5368-BEF9-C4A7-82D0C3F95524}"/>
              </a:ext>
            </a:extLst>
          </p:cNvPr>
          <p:cNvSpPr txBox="1"/>
          <p:nvPr/>
        </p:nvSpPr>
        <p:spPr>
          <a:xfrm>
            <a:off x="12616298" y="13847619"/>
            <a:ext cx="56526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>
                <a:solidFill>
                  <a:schemeClr val="bg1"/>
                </a:solidFill>
                <a:latin typeface="Bahnschrift Condensed" panose="020B0502040204020203" pitchFamily="34" charset="0"/>
              </a:rPr>
              <a:t>Conclusions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4D7F06-4232-DBA2-24C1-126667036A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3222" y="7172325"/>
            <a:ext cx="6188753" cy="40446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7A5BB1-758F-EFAF-447B-3E65F2FFD4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17198" y="9933539"/>
            <a:ext cx="3059632" cy="35478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35EA52-716D-2811-3A67-DF89C4EACB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60475" y="9933539"/>
            <a:ext cx="3688820" cy="354787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E96EEF2-96E0-B871-D4A6-4473043C20F5}"/>
              </a:ext>
            </a:extLst>
          </p:cNvPr>
          <p:cNvSpPr txBox="1"/>
          <p:nvPr/>
        </p:nvSpPr>
        <p:spPr>
          <a:xfrm>
            <a:off x="20674444" y="10645485"/>
            <a:ext cx="27805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Trends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Analysis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25B41E-9AE0-6062-F2E0-1F1C8D509A33}"/>
              </a:ext>
            </a:extLst>
          </p:cNvPr>
          <p:cNvSpPr txBox="1"/>
          <p:nvPr/>
        </p:nvSpPr>
        <p:spPr>
          <a:xfrm>
            <a:off x="20255344" y="12055185"/>
            <a:ext cx="27805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Explain-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ability</a:t>
            </a: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775683F7-CC87-4B48-E226-50C32AFBDFCF}"/>
              </a:ext>
            </a:extLst>
          </p:cNvPr>
          <p:cNvSpPr/>
          <p:nvPr/>
        </p:nvSpPr>
        <p:spPr>
          <a:xfrm rot="5400000">
            <a:off x="22545677" y="12230102"/>
            <a:ext cx="457200" cy="542925"/>
          </a:xfrm>
          <a:prstGeom prst="triangl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B15133FE-A4B6-5EAB-8594-10095AE04A52}"/>
              </a:ext>
            </a:extLst>
          </p:cNvPr>
          <p:cNvSpPr/>
          <p:nvPr/>
        </p:nvSpPr>
        <p:spPr>
          <a:xfrm rot="16200000">
            <a:off x="20726402" y="10782303"/>
            <a:ext cx="457200" cy="542925"/>
          </a:xfrm>
          <a:prstGeom prst="triangl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CBB47A03-E24F-A52B-16F8-2EC452060574}"/>
              </a:ext>
            </a:extLst>
          </p:cNvPr>
          <p:cNvSpPr/>
          <p:nvPr/>
        </p:nvSpPr>
        <p:spPr>
          <a:xfrm>
            <a:off x="21593178" y="10020303"/>
            <a:ext cx="457200" cy="542925"/>
          </a:xfrm>
          <a:prstGeom prst="triangl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DFB840C-4BA9-6BF4-2629-447BEFA6D9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5875" y="13496925"/>
            <a:ext cx="6896100" cy="140970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CDC9BD8-E5C3-8151-D198-18F2FCCA4E42}"/>
              </a:ext>
            </a:extLst>
          </p:cNvPr>
          <p:cNvSpPr txBox="1"/>
          <p:nvPr/>
        </p:nvSpPr>
        <p:spPr>
          <a:xfrm>
            <a:off x="17216869" y="19646610"/>
            <a:ext cx="133869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Bennett et al. (2023) </a:t>
            </a:r>
            <a:r>
              <a:rPr lang="en-US" sz="2800" i="1">
                <a:solidFill>
                  <a:schemeClr val="bg1"/>
                </a:solidFill>
                <a:latin typeface="Bahnschrift" panose="020B0502040204020203" pitchFamily="34" charset="0"/>
              </a:rPr>
              <a:t>Frontiers in Water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. doi: </a:t>
            </a:r>
            <a:r>
              <a:rPr lang="en-US" sz="2800" b="0" i="0" strike="noStrike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10.3389/frwa.2023.1099660</a:t>
            </a:r>
            <a:endParaRPr lang="en-US" sz="280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Bennett et al. (2023) Dataset. </a:t>
            </a:r>
            <a:r>
              <a:rPr lang="en-US" sz="2800" i="1">
                <a:solidFill>
                  <a:schemeClr val="bg1"/>
                </a:solidFill>
                <a:latin typeface="Bahnschrift" panose="020B0502040204020203" pitchFamily="34" charset="0"/>
              </a:rPr>
              <a:t>ESS-DIVE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. doi: </a:t>
            </a:r>
            <a:r>
              <a:rPr lang="en-US" sz="2800" b="0" i="0" strike="noStrike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10.15485/1985921</a:t>
            </a:r>
            <a:endParaRPr lang="en-US" sz="280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just"/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Schwenk et al., (2022) </a:t>
            </a:r>
            <a:r>
              <a:rPr lang="en-US" sz="2800" i="1">
                <a:solidFill>
                  <a:schemeClr val="bg1"/>
                </a:solidFill>
                <a:latin typeface="Bahnschrift" panose="020B0502040204020203" pitchFamily="34" charset="0"/>
              </a:rPr>
              <a:t>Journal of Open Source Software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. doi: </a:t>
            </a:r>
            <a:r>
              <a:rPr lang="en-US" sz="2800" b="0" i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10.21105/joss.04237</a:t>
            </a:r>
            <a:endParaRPr lang="en-US" sz="280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Schwenk et al., (2022) </a:t>
            </a:r>
            <a:r>
              <a:rPr lang="en-US" sz="2800" i="1">
                <a:solidFill>
                  <a:schemeClr val="bg1"/>
                </a:solidFill>
                <a:latin typeface="Bahnschrift" panose="020B0502040204020203" pitchFamily="34" charset="0"/>
              </a:rPr>
              <a:t>AGU Fall Meeting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. doi: 10.1002/essoar.10509913.2 </a:t>
            </a:r>
          </a:p>
          <a:p>
            <a:endParaRPr lang="en-US" sz="280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726353-8249-3762-C15F-89FFC5472916}"/>
              </a:ext>
            </a:extLst>
          </p:cNvPr>
          <p:cNvSpPr txBox="1"/>
          <p:nvPr/>
        </p:nvSpPr>
        <p:spPr>
          <a:xfrm>
            <a:off x="971550" y="8821846"/>
            <a:ext cx="4572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0" i="0" u="none" strike="noStrike" baseline="0">
                <a:solidFill>
                  <a:srgbClr val="FFFFFF"/>
                </a:solidFill>
                <a:latin typeface="Bahnschrift" panose="020B0502040204020203" pitchFamily="34" charset="0"/>
              </a:rPr>
              <a:t>identify a high quality set of observed streamflow gages on which to perform our analysis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3A5877-16EF-9B0B-FA26-64EBD55FED3B}"/>
              </a:ext>
            </a:extLst>
          </p:cNvPr>
          <p:cNvSpPr txBox="1"/>
          <p:nvPr/>
        </p:nvSpPr>
        <p:spPr>
          <a:xfrm>
            <a:off x="6600825" y="11389102"/>
            <a:ext cx="497205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0" i="0" u="none" strike="noStrike" baseline="0">
                <a:solidFill>
                  <a:srgbClr val="FFFFFF"/>
                </a:solidFill>
                <a:latin typeface="Bahnschrift" panose="020B0502040204020203" pitchFamily="34" charset="0"/>
              </a:rPr>
              <a:t>carry out studies to estimate trends for seasonal and annual timescales over the recent past for each streamflow system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B6DFA0D-0E33-969B-235F-9866F1F78F46}"/>
              </a:ext>
            </a:extLst>
          </p:cNvPr>
          <p:cNvSpPr txBox="1"/>
          <p:nvPr/>
        </p:nvSpPr>
        <p:spPr>
          <a:xfrm>
            <a:off x="971550" y="10731877"/>
            <a:ext cx="494347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0" i="0" u="none" strike="noStrike" baseline="0">
                <a:solidFill>
                  <a:srgbClr val="FFFFFF"/>
                </a:solidFill>
                <a:latin typeface="Bahnschrift" panose="020B0502040204020203" pitchFamily="34" charset="0"/>
              </a:rPr>
              <a:t>determine the key drivers of streamflow change by utilizing novel datasets and traditional and new methods to identify important influences of observed trends</a:t>
            </a:r>
            <a:endParaRPr lang="en-US" sz="26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C08033-46A9-602A-FF52-A69BAF360BFA}"/>
              </a:ext>
            </a:extLst>
          </p:cNvPr>
          <p:cNvSpPr txBox="1"/>
          <p:nvPr/>
        </p:nvSpPr>
        <p:spPr>
          <a:xfrm>
            <a:off x="552450" y="8859321"/>
            <a:ext cx="88582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0" i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►</a:t>
            </a:r>
            <a:endParaRPr lang="en-US" sz="260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B9E340B-9A0F-D065-518E-A988E2DE6B99}"/>
              </a:ext>
            </a:extLst>
          </p:cNvPr>
          <p:cNvSpPr txBox="1"/>
          <p:nvPr/>
        </p:nvSpPr>
        <p:spPr>
          <a:xfrm>
            <a:off x="552450" y="10754796"/>
            <a:ext cx="88582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0" i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►</a:t>
            </a:r>
            <a:endParaRPr lang="en-US" sz="260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A8AD24-B940-25F2-FABB-0FC55F6AE25B}"/>
              </a:ext>
            </a:extLst>
          </p:cNvPr>
          <p:cNvSpPr txBox="1"/>
          <p:nvPr/>
        </p:nvSpPr>
        <p:spPr>
          <a:xfrm>
            <a:off x="6096000" y="11412021"/>
            <a:ext cx="88582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0" i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►</a:t>
            </a:r>
            <a:endParaRPr lang="en-US" sz="260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D0B11D-4631-0A70-0937-E9F6754505A0}"/>
              </a:ext>
            </a:extLst>
          </p:cNvPr>
          <p:cNvSpPr txBox="1"/>
          <p:nvPr/>
        </p:nvSpPr>
        <p:spPr>
          <a:xfrm>
            <a:off x="528638" y="15080040"/>
            <a:ext cx="11644312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0" i="0" u="none" strike="noStrike" baseline="0">
                <a:solidFill>
                  <a:schemeClr val="bg1"/>
                </a:solidFill>
                <a:latin typeface="Bahnschrift" panose="020B0502040204020203" pitchFamily="34" charset="0"/>
              </a:rPr>
              <a:t>We used gages from the USGS and HYDAT streamflow databases, downselected for multiple criteria to improve quality (n=77). We computed watersheds and their characteristics (e.g., glacier presence, permafrost %, climate stats) using our RabPro software tool. We divided the systems into permafrost-dominant (&gt;50%, n=23), -moderate (26-50%n=23), </a:t>
            </a:r>
            <a:r>
              <a:rPr lang="en-US" sz="2600">
                <a:solidFill>
                  <a:schemeClr val="bg1"/>
                </a:solidFill>
                <a:latin typeface="Bahnschrift" panose="020B0502040204020203" pitchFamily="34" charset="0"/>
              </a:rPr>
              <a:t>and -unimpacted </a:t>
            </a:r>
            <a:r>
              <a:rPr lang="en-US" sz="2600" b="0" i="0" u="none" strike="noStrike" baseline="0">
                <a:solidFill>
                  <a:schemeClr val="bg1"/>
                </a:solidFill>
                <a:latin typeface="Bahnschrift" panose="020B0502040204020203" pitchFamily="34" charset="0"/>
              </a:rPr>
              <a:t>(1-25%, n=31) systems. We looked at the entire recent record (1990-2019), and the 1st (1990-2004), and the 2nd (2005-2019) 15 years of the recent record. We calculated trends and significance using Mann-Kendal, Sens slope approaches, along with simple difference metrics with a focus on maximum and minimum streamflow at seasonal and annual time scales. For machine learning methods, we randomly selected 991 basins from GloFAS v 3.14 as a proxy for the permafrost-affected sites and computed trends. We tested 24 machine learning methods; the top models are presented here. To investigate the climatic drivers of streamflow changes, we extracted temperature, precipitation, rainfall, snowfall, and snow water equivalent from ERA5-Land </a:t>
            </a:r>
            <a:r>
              <a:rPr lang="en-US" sz="2600">
                <a:solidFill>
                  <a:schemeClr val="bg1"/>
                </a:solidFill>
                <a:latin typeface="Bahnschrift" panose="020B0502040204020203" pitchFamily="34" charset="0"/>
              </a:rPr>
              <a:t>R</a:t>
            </a:r>
            <a:r>
              <a:rPr lang="en-US" sz="2600" b="0" i="0" u="none" strike="noStrike" baseline="0">
                <a:solidFill>
                  <a:schemeClr val="bg1"/>
                </a:solidFill>
                <a:latin typeface="Bahnschrift" panose="020B0502040204020203" pitchFamily="34" charset="0"/>
              </a:rPr>
              <a:t>eanalysis products.</a:t>
            </a:r>
            <a:endParaRPr lang="en-US" sz="260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2E71A9C8-7CAE-B28A-BA19-7F29A1F07ED0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4472C4"/>
              </a:clrFrom>
              <a:clrTo>
                <a:srgbClr val="4472C4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088350" y="15401783"/>
            <a:ext cx="3771900" cy="3529154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527AAFDC-6F91-4F15-089B-82DBE0909AEE}"/>
              </a:ext>
            </a:extLst>
          </p:cNvPr>
          <p:cNvSpPr txBox="1"/>
          <p:nvPr/>
        </p:nvSpPr>
        <p:spPr>
          <a:xfrm>
            <a:off x="24938831" y="15350222"/>
            <a:ext cx="552211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changes in streamflow trends observed in this study are reflective of deepening active layers and thawing permafrost, indicating that the entire hydrograph is undergoing change within permafrost-dominant streamflow systems as the Arctic moves towards a warmer future under climate change. </a:t>
            </a:r>
            <a:endParaRPr lang="en-US" sz="260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DBC548E-3C6E-58B8-D0FE-4A43F0A66EBF}"/>
              </a:ext>
            </a:extLst>
          </p:cNvPr>
          <p:cNvSpPr txBox="1"/>
          <p:nvPr/>
        </p:nvSpPr>
        <p:spPr>
          <a:xfrm>
            <a:off x="13223082" y="15563833"/>
            <a:ext cx="7979568" cy="3479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kern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MuseoSans-300"/>
              </a:rPr>
              <a:t>Overall trend of increasing minimum streamflow for permafrost-containing watersheds across the seasons and annual periods considered.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600" kern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kern="0">
                <a:solidFill>
                  <a:schemeClr val="bg1"/>
                </a:solidFill>
                <a:latin typeface="Bahnschrift" panose="020B0502040204020203" pitchFamily="34" charset="0"/>
              </a:rPr>
              <a:t>Climatic factors (precipitation and temperature) are primarily driving trends, but permafrost coverage shows importance for the most recent 32-year period.</a:t>
            </a:r>
            <a:endParaRPr lang="en-US" sz="260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01A18A9-7E61-07C1-7A78-ECD41359E7E3}"/>
              </a:ext>
            </a:extLst>
          </p:cNvPr>
          <p:cNvSpPr txBox="1"/>
          <p:nvPr/>
        </p:nvSpPr>
        <p:spPr>
          <a:xfrm>
            <a:off x="12734925" y="15555396"/>
            <a:ext cx="88582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0" i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►</a:t>
            </a:r>
            <a:endParaRPr lang="en-US" sz="260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824E1A-8034-60DC-0C93-516BF9D070EC}"/>
              </a:ext>
            </a:extLst>
          </p:cNvPr>
          <p:cNvSpPr txBox="1"/>
          <p:nvPr/>
        </p:nvSpPr>
        <p:spPr>
          <a:xfrm>
            <a:off x="12763500" y="17241321"/>
            <a:ext cx="88582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0" i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►</a:t>
            </a:r>
            <a:endParaRPr lang="en-US" sz="260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6E9F4DD-1E4A-E4A6-C669-B1B5550831C9}"/>
              </a:ext>
            </a:extLst>
          </p:cNvPr>
          <p:cNvSpPr txBox="1"/>
          <p:nvPr/>
        </p:nvSpPr>
        <p:spPr>
          <a:xfrm>
            <a:off x="24507825" y="15355371"/>
            <a:ext cx="88582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0" i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►</a:t>
            </a:r>
            <a:endParaRPr lang="en-US" sz="260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794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547</TotalTime>
  <Words>579</Words>
  <Application>Microsoft Office PowerPoint</Application>
  <PresentationFormat>Custom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Bahnschrift</vt:lpstr>
      <vt:lpstr>Bahnschrift Condensed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Kurt Solander</dc:creator>
  <cp:lastModifiedBy>Schwenk, Jon</cp:lastModifiedBy>
  <cp:revision>15</cp:revision>
  <dcterms:created xsi:type="dcterms:W3CDTF">2022-07-28T17:30:25Z</dcterms:created>
  <dcterms:modified xsi:type="dcterms:W3CDTF">2023-08-08T01:33:08Z</dcterms:modified>
</cp:coreProperties>
</file>