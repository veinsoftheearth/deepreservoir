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jD1tpOuK4cYLBdhI5h1NNh71RG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/>
    <p:restoredTop sz="80000"/>
  </p:normalViewPr>
  <p:slideViewPr>
    <p:cSldViewPr snapToGrid="0">
      <p:cViewPr varScale="1">
        <p:scale>
          <a:sx n="67" d="100"/>
          <a:sy n="67" d="100"/>
        </p:scale>
        <p:origin x="11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customschemas.google.com/relationships/presentationmetadata" Target="meta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4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3f9a0ad7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73f9a0ad74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g373f9a0ad74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Only-No Subhead">
  <p:cSld name="1_Text Only-No Subhead">
    <p:bg>
      <p:bgPr>
        <a:solidFill>
          <a:srgbClr val="000F7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09600" y="609600"/>
            <a:ext cx="10972800" cy="89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2"/>
          </p:nvPr>
        </p:nvSpPr>
        <p:spPr>
          <a:xfrm>
            <a:off x="609600" y="1524000"/>
            <a:ext cx="10972800" cy="426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3f9a0ad74_0_8"/>
          <p:cNvSpPr txBox="1">
            <a:spLocks noGrp="1"/>
          </p:cNvSpPr>
          <p:nvPr>
            <p:ph type="body" idx="1"/>
          </p:nvPr>
        </p:nvSpPr>
        <p:spPr>
          <a:xfrm>
            <a:off x="240950" y="127600"/>
            <a:ext cx="1186215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sz="2400" dirty="0"/>
              <a:t>AI-[Enhanced, Driven], ready for [Domain: Material Science, Drug Discovery, etc.] [rest of the title states the breakthrough or speed up in the domain science problem solved]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endParaRPr sz="2400" dirty="0"/>
          </a:p>
        </p:txBody>
      </p:sp>
      <p:sp>
        <p:nvSpPr>
          <p:cNvPr id="123" name="Google Shape;123;g373f9a0ad74_0_8"/>
          <p:cNvSpPr txBox="1">
            <a:spLocks noGrp="1"/>
          </p:cNvSpPr>
          <p:nvPr>
            <p:ph type="body" idx="2"/>
          </p:nvPr>
        </p:nvSpPr>
        <p:spPr>
          <a:xfrm>
            <a:off x="447023" y="1348740"/>
            <a:ext cx="8430276" cy="326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06909" lvl="0" indent="-30690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</a:pPr>
            <a:r>
              <a:rPr lang="en-US" sz="1400" dirty="0">
                <a:solidFill>
                  <a:srgbClr val="FFC000"/>
                </a:solidFill>
              </a:rPr>
              <a:t>What science problem are you solving ?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Clr>
                <a:srgbClr val="FFC000"/>
              </a:buClr>
              <a:buNone/>
            </a:pPr>
            <a:r>
              <a:rPr lang="en-US" sz="1400" dirty="0">
                <a:solidFill>
                  <a:srgbClr val="FFC000"/>
                </a:solidFill>
              </a:rPr>
              <a:t>why is AI/ML the right technology ?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Clr>
                <a:srgbClr val="FFC000"/>
              </a:buClr>
              <a:buNone/>
            </a:pPr>
            <a:r>
              <a:rPr lang="en-US" sz="1400" dirty="0"/>
              <a:t>Solving optimal reservoir operation (balancing water supply, hydropower, ecology)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Clr>
                <a:srgbClr val="FFC000"/>
              </a:buClr>
              <a:buNone/>
            </a:pPr>
            <a:r>
              <a:rPr lang="en-US" sz="1400" dirty="0"/>
              <a:t>AI/ML (RL) is ideal as it learns adaptive, multi-objective strategies under uncertainty</a:t>
            </a:r>
            <a:endParaRPr lang="en-US" sz="1400" dirty="0">
              <a:solidFill>
                <a:srgbClr val="FFC000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Clr>
                <a:srgbClr val="FFC000"/>
              </a:buClr>
              <a:buNone/>
            </a:pPr>
            <a:endParaRPr lang="en-US" sz="1400" dirty="0">
              <a:solidFill>
                <a:srgbClr val="D0D0D0"/>
              </a:solidFill>
            </a:endParaRPr>
          </a:p>
          <a:p>
            <a:pPr marL="285750" lvl="0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</a:pPr>
            <a:r>
              <a:rPr lang="en-US" sz="1400" dirty="0">
                <a:solidFill>
                  <a:srgbClr val="FFC000"/>
                </a:solidFill>
              </a:rPr>
              <a:t>What AI/ML method(s) are you using </a:t>
            </a:r>
            <a:r>
              <a:rPr lang="en-US" sz="1400" dirty="0">
                <a:solidFill>
                  <a:srgbClr val="FFC000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?</a:t>
            </a:r>
          </a:p>
          <a:p>
            <a:pPr marL="19050" lvl="0" indent="0">
              <a:buClr>
                <a:srgbClr val="FFC000"/>
              </a:buClr>
              <a:buSzPts val="2400"/>
              <a:buNone/>
            </a:pPr>
            <a:r>
              <a:rPr lang="en-US" sz="1400" dirty="0"/>
              <a:t>Using Reinforcement Learning (PPO, TD3) for reservoir control</a:t>
            </a:r>
            <a:endParaRPr lang="en-US" sz="1400" dirty="0">
              <a:solidFill>
                <a:srgbClr val="FFC000"/>
              </a:solidFill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285750" indent="-285750">
              <a:buClr>
                <a:srgbClr val="D0D0D0"/>
              </a:buClr>
              <a:buSzPts val="1600"/>
            </a:pPr>
            <a:r>
              <a:rPr lang="en-US" sz="1400" dirty="0">
                <a:solidFill>
                  <a:srgbClr val="FFC000"/>
                </a:solidFill>
              </a:rPr>
              <a:t>What is the impact/breakthrough </a:t>
            </a:r>
            <a:r>
              <a:rPr lang="en-US" sz="1400" dirty="0">
                <a:solidFill>
                  <a:srgbClr val="FFC000"/>
                </a:solidFill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?</a:t>
            </a:r>
          </a:p>
          <a:p>
            <a:pPr marL="0" indent="0">
              <a:buClr>
                <a:srgbClr val="D0D0D0"/>
              </a:buClr>
              <a:buSzPts val="1600"/>
              <a:buNone/>
            </a:pPr>
            <a:r>
              <a:rPr lang="en-US" sz="1400" dirty="0">
                <a:solidFill>
                  <a:schemeClr val="tx2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  </a:ext>
                </a:extLst>
              </a:rPr>
              <a:t>Speed up (gain over non AI approach) ? Breakthrough ? Better physics models ? Design Optimization ? other ?</a:t>
            </a:r>
          </a:p>
          <a:p>
            <a:pPr marL="0" indent="0">
              <a:buClr>
                <a:srgbClr val="D0D0D0"/>
              </a:buClr>
              <a:buSzPts val="1600"/>
              <a:buNone/>
            </a:pPr>
            <a:r>
              <a:rPr lang="en-US" sz="1400" dirty="0"/>
              <a:t>Breakthrough: Adaptive reservoir operation under uncertainty</a:t>
            </a:r>
          </a:p>
          <a:p>
            <a:pPr marL="0" indent="0">
              <a:buClr>
                <a:srgbClr val="D0D0D0"/>
              </a:buClr>
              <a:buSzPts val="1600"/>
              <a:buNone/>
            </a:pPr>
            <a:r>
              <a:rPr lang="en-US" sz="1400" dirty="0"/>
              <a:t>Gain: Learns faster than manual rule-based approaches</a:t>
            </a:r>
          </a:p>
          <a:p>
            <a:pPr marL="0" indent="0">
              <a:buClr>
                <a:srgbClr val="D0D0D0"/>
              </a:buClr>
              <a:buSzPts val="1600"/>
              <a:buNone/>
            </a:pPr>
            <a:r>
              <a:rPr lang="en-US" sz="1400" dirty="0"/>
              <a:t>Impact: Enables multi-objective water management and design optimization</a:t>
            </a:r>
            <a:endParaRPr lang="en-US" sz="1400" dirty="0">
              <a:solidFill>
                <a:schemeClr val="tx2"/>
              </a:solidFill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</a:ext>
              </a:extLst>
            </a:endParaRPr>
          </a:p>
          <a:p>
            <a:pPr marL="285750" lvl="0" indent="-266700">
              <a:buClr>
                <a:srgbClr val="FFC000"/>
              </a:buClr>
              <a:buSzPts val="2400"/>
            </a:pPr>
            <a:r>
              <a:rPr lang="en-US" sz="1400" dirty="0">
                <a:solidFill>
                  <a:srgbClr val="FFC000"/>
                </a:solidFill>
              </a:rPr>
              <a:t>What infrastructure are you using/would ideally like to use ?</a:t>
            </a:r>
          </a:p>
          <a:p>
            <a:pPr marL="0" indent="0">
              <a:buClr>
                <a:srgbClr val="D0D0D0"/>
              </a:buClr>
              <a:buSzPts val="1600"/>
              <a:buNone/>
            </a:pPr>
            <a:r>
              <a:rPr lang="en-US" sz="1400" dirty="0"/>
              <a:t>Currently using HPC for training RL models; ideally would scale to more powerful GPU/cloud infrastructure to handle future multi-objective, multi-agent systems more efficiently.</a:t>
            </a:r>
            <a:endParaRPr lang="en-US" sz="1400" dirty="0">
              <a:solidFill>
                <a:srgbClr val="FFC000"/>
              </a:solidFill>
            </a:endParaRPr>
          </a:p>
          <a:p>
            <a:pPr marL="285750" lvl="0" indent="-266700">
              <a:buClr>
                <a:srgbClr val="FFC000"/>
              </a:buClr>
              <a:buSzPts val="2400"/>
            </a:pPr>
            <a:r>
              <a:rPr lang="en-US" sz="1400" dirty="0">
                <a:solidFill>
                  <a:srgbClr val="FFC000"/>
                </a:solidFill>
              </a:rPr>
              <a:t>Who is funding the work ? (current sponsors )</a:t>
            </a:r>
          </a:p>
          <a:p>
            <a:pPr marL="476250" lvl="1" indent="0">
              <a:buClr>
                <a:srgbClr val="FFC000"/>
              </a:buClr>
              <a:buNone/>
            </a:pPr>
            <a:r>
              <a:rPr lang="en-US" sz="1400" dirty="0">
                <a:solidFill>
                  <a:srgbClr val="FFC000"/>
                </a:solidFill>
              </a:rPr>
              <a:t>if you are funded by LDRD and Artimis, what is your transition plan to programmatic funding ?</a:t>
            </a:r>
            <a:endParaRPr lang="en-US" sz="1400" dirty="0">
              <a:solidFill>
                <a:srgbClr val="FFC000"/>
              </a:solidFill>
              <a:extLst>
                <a:ext uri="http://customooxmlschemas.google.com/">
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</a:ext>
              </a:extLst>
            </a:endParaRPr>
          </a:p>
          <a:p>
            <a:pPr marL="0" lvl="0" indent="0">
              <a:buClr>
                <a:srgbClr val="D0D0D0"/>
              </a:buClr>
              <a:buSzPts val="1600"/>
              <a:buNone/>
            </a:pPr>
            <a:r>
              <a:rPr lang="en-US" sz="1400" dirty="0">
                <a:solidFill>
                  <a:srgbClr val="D0D0D0"/>
                </a:solidFill>
              </a:rPr>
              <a:t>ASC, DOD, ASCR, BES, </a:t>
            </a:r>
            <a:r>
              <a:rPr lang="en-US" sz="1400" dirty="0" err="1">
                <a:solidFill>
                  <a:srgbClr val="D0D0D0"/>
                </a:solidFill>
              </a:rPr>
              <a:t>etc</a:t>
            </a:r>
            <a:endParaRPr lang="en-US" sz="1400" dirty="0">
              <a:solidFill>
                <a:srgbClr val="D0D0D0"/>
              </a:solidFill>
            </a:endParaRPr>
          </a:p>
          <a:p>
            <a:pPr marL="0" indent="0">
              <a:buClr>
                <a:srgbClr val="D0D0D0"/>
              </a:buClr>
              <a:buSzPts val="1600"/>
              <a:buNone/>
            </a:pPr>
            <a:endParaRPr lang="en-US" sz="1400" dirty="0">
              <a:solidFill>
                <a:schemeClr val="tx2"/>
              </a:solidFill>
              <a:extLst>
                <a:ext uri="http://customooxmlschemas.google.com/">
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</a:ext>
              </a:extLst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0D0D0"/>
              </a:buClr>
              <a:buSzPts val="1600"/>
              <a:buNone/>
            </a:pPr>
            <a:endParaRPr lang="en-US" sz="1400" dirty="0">
              <a:solidFill>
                <a:srgbClr val="D0D0D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0D0D0"/>
              </a:buClr>
              <a:buSzPts val="1600"/>
              <a:buNone/>
            </a:pPr>
            <a:endParaRPr lang="en-US" sz="1400" dirty="0">
              <a:solidFill>
                <a:srgbClr val="D0D0D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0D0D0"/>
              </a:buClr>
              <a:buSzPts val="1600"/>
              <a:buNone/>
            </a:pPr>
            <a:endParaRPr sz="14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75969-C86A-2826-4A2D-9BA31CC3DC67}"/>
              </a:ext>
            </a:extLst>
          </p:cNvPr>
          <p:cNvSpPr txBox="1"/>
          <p:nvPr/>
        </p:nvSpPr>
        <p:spPr>
          <a:xfrm>
            <a:off x="4988871" y="6083301"/>
            <a:ext cx="253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solidFill>
                  <a:schemeClr val="bg1"/>
                </a:solidFill>
              </a:rPr>
              <a:t>POC: Name,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D522F1-4870-CB00-587E-087D53F3E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348739"/>
            <a:ext cx="3462020" cy="31912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241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Ticknor, Christopher</dc:creator>
  <cp:lastModifiedBy>Shubhendu Kumar Singh</cp:lastModifiedBy>
  <cp:revision>17</cp:revision>
  <dcterms:created xsi:type="dcterms:W3CDTF">2025-07-22T21:26:13Z</dcterms:created>
  <dcterms:modified xsi:type="dcterms:W3CDTF">2025-08-19T19:34:00Z</dcterms:modified>
</cp:coreProperties>
</file>