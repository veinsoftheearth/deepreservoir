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3" r:id="rId2"/>
    <p:sldId id="333" r:id="rId3"/>
    <p:sldId id="35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98606-CA5D-F013-40A8-5B4D832492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C28F2B-A157-BCDD-9749-E03AABD773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3D200-E0BA-F67B-40E8-48A1C2A26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F67E1-28B6-43DD-A975-3A86FA42E816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0DFB7-AE82-6A25-F057-43A10B269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9140F-9398-3422-255F-89CB8D83D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254F-8D17-4FA4-9BF8-B54735292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714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91427-0D97-4AE8-5308-0732860DA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DEFF9-73BC-A7B2-4832-78A4F605B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4A84F-6774-7103-52A5-BC9C9A203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F67E1-28B6-43DD-A975-3A86FA42E816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5F43C-81CA-1C19-AF21-543B0B6CE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11C05-8850-2824-123B-2902CAC58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254F-8D17-4FA4-9BF8-B54735292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92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E2CF-F2DB-A54A-288A-0A73F4210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673A85-56C6-11E1-4A51-249BDC783A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C0409-0483-6E09-5147-83B3E6069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F67E1-28B6-43DD-A975-3A86FA42E816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B4400-C536-2637-1999-C01BE6480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E4217-B5A2-93B0-BBCF-73006F2E9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254F-8D17-4FA4-9BF8-B54735292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508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52422-E262-146A-2781-8F5B0BBE4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E6986-CF2B-AA6B-9550-877452108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426A88-0C96-D088-7D4D-ABC288A95E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B3C20A-FC20-5F75-BA51-E9E2F8C10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F67E1-28B6-43DD-A975-3A86FA42E816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17DF9-0CFB-01F1-F18E-4267F37D8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5AA7E5-71E4-2C33-FF15-93EE7F7BD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254F-8D17-4FA4-9BF8-B54735292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255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157AA-B706-F75F-2F56-3A923ACE0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E8BB4A-4364-7971-92DF-3121E8A8C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DC13B-0AE0-9D2F-0F92-9ED66788C1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2D668F-24C2-69CD-3BE9-7A9339444E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4A017A-9797-E4C0-EFE0-125B3F2D81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7FBB95-0A59-367E-2EF8-018848273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F67E1-28B6-43DD-A975-3A86FA42E816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2F3B28-38B8-2E31-77F5-D3E2A56F7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1F7C63-80AB-C26B-DC76-AD64E3B4B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254F-8D17-4FA4-9BF8-B54735292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27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72E91-A8AE-B42F-797B-2798C4749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BE7AAD-F4EE-3EBA-5BE3-433490C6A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F67E1-28B6-43DD-A975-3A86FA42E816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EAFB91-4940-1592-8DC7-23CDD96B4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CD0780-20D7-1EB2-CEA5-BEF126641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254F-8D17-4FA4-9BF8-B54735292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233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8A079B-F9A9-6350-454B-A08C99F3E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F67E1-28B6-43DD-A975-3A86FA42E816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B0740D-ADF7-3D30-9974-F2C622252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FB68F-623A-E89A-BCB6-25C71DF01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254F-8D17-4FA4-9BF8-B54735292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078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27CF0-7C23-581D-8805-61F435111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F99FD-1371-7C71-BA6D-7D9255D5A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01C6F0-5D1B-D217-1D11-C555455B06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CB894-0A5F-E20D-896D-092D1E9DD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F67E1-28B6-43DD-A975-3A86FA42E816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008CF-8B68-679E-CFCE-1CEE4D7A5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CFCD38-6FC2-A84D-2961-81EB76E9F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254F-8D17-4FA4-9BF8-B54735292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191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57481-5116-0878-37BE-F99F90A5D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1A9FCB-7E9D-1E7E-DB62-E8172BF223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8BAF77-80BA-3FB3-CED0-A502D538B2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D62B6-4FFC-8CD9-1B7D-8383DD160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F67E1-28B6-43DD-A975-3A86FA42E816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493BA1-C01A-CE51-D27C-12699A9CE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D142F0-2D3D-3336-7D15-F1AB4BCEB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254F-8D17-4FA4-9BF8-B54735292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677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75A21-6D1B-12E9-CA24-C34CD83E9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FD31C3-A407-3684-664C-0C25B777CA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8FB8E-F874-C00B-A588-BBBF02902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F67E1-28B6-43DD-A975-3A86FA42E816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1E3B9-D6D9-888C-F67B-ACEF68649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24702-1C4F-D070-E608-841798CFA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254F-8D17-4FA4-9BF8-B54735292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305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600F9B-8E9E-173C-4503-17374E7492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EDA5F-7104-4801-42C7-07568E69F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D8AF9-EC62-DC5F-7988-74284460F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F67E1-28B6-43DD-A975-3A86FA42E816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E4DD1-D295-65AF-DF3A-7ECF78534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13086-AA90-3B3B-5675-6CF7C2E1B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254F-8D17-4FA4-9BF8-B54735292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5877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-No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C89D9-A95D-984D-AA31-A11221C38E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609600"/>
            <a:ext cx="10972800" cy="892208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 b="1" i="0">
                <a:latin typeface="Acumin Pro" panose="020B0504020202020204" pitchFamily="34" charset="77"/>
              </a:defRPr>
            </a:lvl2pPr>
            <a:lvl3pPr>
              <a:buNone/>
              <a:defRPr b="1" i="0">
                <a:latin typeface="Acumin Pro" panose="020B0504020202020204" pitchFamily="34" charset="77"/>
              </a:defRPr>
            </a:lvl3pPr>
            <a:lvl4pPr>
              <a:buNone/>
              <a:defRPr b="1" i="0">
                <a:latin typeface="Acumin Pro" panose="020B0504020202020204" pitchFamily="34" charset="77"/>
              </a:defRPr>
            </a:lvl4pPr>
            <a:lvl5pPr>
              <a:buNone/>
              <a:defRPr b="1" i="0">
                <a:latin typeface="Acumin Pro" panose="020B0504020202020204" pitchFamily="34" charset="77"/>
              </a:defRPr>
            </a:lvl5pPr>
          </a:lstStyle>
          <a:p>
            <a:pPr lvl="0"/>
            <a:r>
              <a:rPr lang="en-US"/>
              <a:t>Click to add a brief slide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24F4C0B-8E0E-D247-8998-89B0F977E90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" y="1524000"/>
            <a:ext cx="10972800" cy="4260851"/>
          </a:xfrm>
        </p:spPr>
        <p:txBody>
          <a:bodyPr wrap="square" lIns="0" tIns="0" rIns="0" bIns="0">
            <a:noAutofit/>
          </a:bodyPr>
          <a:lstStyle>
            <a:lvl1pPr marL="306910" indent="-306910">
              <a:lnSpc>
                <a:spcPct val="100000"/>
              </a:lnSpc>
              <a:spcBef>
                <a:spcPts val="800"/>
              </a:spcBef>
              <a:tabLst/>
              <a:defRPr>
                <a:solidFill>
                  <a:schemeClr val="tx1"/>
                </a:solidFill>
              </a:defRPr>
            </a:lvl1pPr>
            <a:lvl2pPr marL="613818" indent="-306910">
              <a:tabLst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 marL="1219170" indent="-302676">
              <a:tabLst/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Click to add first bullet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7341611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D18F66-9164-4AE1-FE82-003D9E36B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4520C7-02C9-9265-753D-F5E1996DD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EAD31-CC3A-7BF4-14E3-3CF040DA01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CF67E1-28B6-43DD-A975-3A86FA42E816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187D3-DC6A-18D4-8912-CA9612D7B1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EC8C1-5A81-7B16-B7C4-7B88052235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FB254F-8D17-4FA4-9BF8-B54735292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759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67689-11D8-0B94-859D-21E3666CD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37F92DF-C6CB-0484-95D3-C01A91470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93040" y="223520"/>
            <a:ext cx="11816080" cy="892208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>
                <a:latin typeface="Arial"/>
                <a:cs typeface="Arial"/>
              </a:rPr>
              <a:t>Optimizing: Simpler Case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F01B02C-71DE-BEE8-1B74-C4579D092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20" y="871719"/>
            <a:ext cx="10952480" cy="5785124"/>
          </a:xfrm>
          <a:prstGeom prst="rect">
            <a:avLst/>
          </a:prstGeom>
        </p:spPr>
      </p:pic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34F5A6B1-3B2C-CFA4-B526-282CAA0F932C}"/>
              </a:ext>
            </a:extLst>
          </p:cNvPr>
          <p:cNvSpPr txBox="1">
            <a:spLocks/>
          </p:cNvSpPr>
          <p:nvPr/>
        </p:nvSpPr>
        <p:spPr>
          <a:xfrm>
            <a:off x="0" y="6483600"/>
            <a:ext cx="12192000" cy="3744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2400" b="1" i="0" kern="1200">
                <a:solidFill>
                  <a:srgbClr val="000F7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60375" indent="-230188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Arial" panose="020B0604020202020204" pitchFamily="34" charset="0"/>
              </a:defRPr>
            </a:lvl2pPr>
            <a:lvl3pPr marL="688975" indent="-23177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None/>
              <a:defRPr sz="1400" b="1" i="0" kern="120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Arial" panose="020B0604020202020204" pitchFamily="34" charset="0"/>
              </a:defRPr>
            </a:lvl3pPr>
            <a:lvl4pPr marL="914400" indent="-227013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i="0" kern="120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400" b="1" i="0" kern="120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67">
                <a:solidFill>
                  <a:srgbClr val="8B69A6"/>
                </a:solidFill>
                <a:effectLst>
                  <a:glow rad="101600">
                    <a:schemeClr val="tx1"/>
                  </a:glow>
                </a:effectLst>
              </a:rPr>
              <a:t>Project Execution</a:t>
            </a:r>
          </a:p>
          <a:p>
            <a:pPr algn="ctr"/>
            <a:endParaRPr lang="en-US" sz="1867">
              <a:solidFill>
                <a:srgbClr val="23B4F2"/>
              </a:solidFill>
              <a:effectLst>
                <a:glow rad="101600">
                  <a:schemeClr val="tx1"/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40202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C30FF50-D818-2F4B-B792-5C5E8A813F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338667"/>
            <a:ext cx="10972800" cy="892208"/>
          </a:xfrm>
        </p:spPr>
        <p:txBody>
          <a:bodyPr/>
          <a:lstStyle/>
          <a:p>
            <a:r>
              <a:rPr lang="en-US"/>
              <a:t>Continued Engagement with Stakeholders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1E3329-D1B3-9F11-8990-CD8D7CBB62D7}"/>
              </a:ext>
            </a:extLst>
          </p:cNvPr>
          <p:cNvSpPr txBox="1"/>
          <p:nvPr/>
        </p:nvSpPr>
        <p:spPr>
          <a:xfrm>
            <a:off x="507823" y="1289481"/>
            <a:ext cx="499375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Engagement with stakeholders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Workshop 1: Spring, 2025 (small team)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Workshop 2: Spring, 2026 (broader engagement)</a:t>
            </a:r>
          </a:p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Aims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Sharing information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Building partnerships for future engagement and proposals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Ensuring our work is impactful and has adoptability</a:t>
            </a:r>
          </a:p>
        </p:txBody>
      </p:sp>
      <p:pic>
        <p:nvPicPr>
          <p:cNvPr id="3" name="Google Shape;594;p67">
            <a:extLst>
              <a:ext uri="{FF2B5EF4-FFF2-40B4-BE49-F238E27FC236}">
                <a16:creationId xmlns:a16="http://schemas.microsoft.com/office/drawing/2014/main" id="{FF761BF0-B7F0-EC24-76EA-B0E97917245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02478" y="1165607"/>
            <a:ext cx="6797457" cy="3910163"/>
          </a:xfrm>
          <a:prstGeom prst="rect">
            <a:avLst/>
          </a:prstGeom>
          <a:noFill/>
          <a:ln>
            <a:noFill/>
          </a:ln>
          <a:effectLst>
            <a:softEdge rad="657071"/>
          </a:effectLst>
        </p:spPr>
      </p:pic>
      <p:pic>
        <p:nvPicPr>
          <p:cNvPr id="9" name="Picture 8" descr="A picture containing person, sky, person, outdoor&#10;&#10;Description automatically generated">
            <a:extLst>
              <a:ext uri="{FF2B5EF4-FFF2-40B4-BE49-F238E27FC236}">
                <a16:creationId xmlns:a16="http://schemas.microsoft.com/office/drawing/2014/main" id="{AB237462-ACB3-259E-A676-B38B62690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923" y="1995647"/>
            <a:ext cx="1479269" cy="1933591"/>
          </a:xfrm>
          <a:prstGeom prst="rect">
            <a:avLst/>
          </a:prstGeom>
        </p:spPr>
      </p:pic>
      <p:pic>
        <p:nvPicPr>
          <p:cNvPr id="11" name="Picture 10" descr="A person smiling for the camera&#10;&#10;Description automatically generated with medium confidence">
            <a:extLst>
              <a:ext uri="{FF2B5EF4-FFF2-40B4-BE49-F238E27FC236}">
                <a16:creationId xmlns:a16="http://schemas.microsoft.com/office/drawing/2014/main" id="{28A0922D-6B1A-3BAD-6E25-20D8942173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4281" y="1827138"/>
            <a:ext cx="1479271" cy="1468367"/>
          </a:xfrm>
          <a:prstGeom prst="rect">
            <a:avLst/>
          </a:prstGeom>
        </p:spPr>
      </p:pic>
      <p:pic>
        <p:nvPicPr>
          <p:cNvPr id="6" name="Picture 5" descr="A picture containing outdoor, tree, grass, sky&#10;&#10;Description automatically generated">
            <a:extLst>
              <a:ext uri="{FF2B5EF4-FFF2-40B4-BE49-F238E27FC236}">
                <a16:creationId xmlns:a16="http://schemas.microsoft.com/office/drawing/2014/main" id="{34A8BAE2-EE2B-1795-C9A6-A7EB8D5A2D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4498" y="1097103"/>
            <a:ext cx="1182061" cy="13806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118860B-6925-E639-5C44-CA1021612950}"/>
              </a:ext>
            </a:extLst>
          </p:cNvPr>
          <p:cNvSpPr txBox="1"/>
          <p:nvPr/>
        </p:nvSpPr>
        <p:spPr>
          <a:xfrm>
            <a:off x="9579080" y="2535897"/>
            <a:ext cx="24208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>
                <a:latin typeface="Century Gothic" panose="020B0502020202020204" pitchFamily="34" charset="0"/>
              </a:rPr>
              <a:t>Susan </a:t>
            </a:r>
            <a:r>
              <a:rPr lang="en-US" sz="1600" err="1">
                <a:latin typeface="Century Gothic" panose="020B0502020202020204" pitchFamily="34" charset="0"/>
              </a:rPr>
              <a:t>Behery</a:t>
            </a:r>
            <a:endParaRPr lang="en-US" sz="1600">
              <a:latin typeface="Century Gothic" panose="020B0502020202020204" pitchFamily="34" charset="0"/>
            </a:endParaRPr>
          </a:p>
          <a:p>
            <a:pPr algn="r"/>
            <a:r>
              <a:rPr lang="en-US" sz="1600">
                <a:latin typeface="Century Gothic" panose="020B0502020202020204" pitchFamily="34" charset="0"/>
              </a:rPr>
              <a:t>Navajo Dam Operator</a:t>
            </a:r>
          </a:p>
          <a:p>
            <a:pPr algn="r"/>
            <a:r>
              <a:rPr lang="en-US" sz="1600">
                <a:latin typeface="Century Gothic" panose="020B0502020202020204" pitchFamily="34" charset="0"/>
              </a:rPr>
              <a:t>Reclamation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12B4CE-E876-5B03-BDA6-422954989FBA}"/>
              </a:ext>
            </a:extLst>
          </p:cNvPr>
          <p:cNvSpPr txBox="1"/>
          <p:nvPr/>
        </p:nvSpPr>
        <p:spPr>
          <a:xfrm>
            <a:off x="7511857" y="3981974"/>
            <a:ext cx="46025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entury Gothic" panose="020B0502020202020204" pitchFamily="34" charset="0"/>
              </a:rPr>
              <a:t>Jim Prairie</a:t>
            </a:r>
          </a:p>
          <a:p>
            <a:r>
              <a:rPr lang="en-US" sz="1600">
                <a:latin typeface="Century Gothic" panose="020B0502020202020204" pitchFamily="34" charset="0"/>
              </a:rPr>
              <a:t>Research and Modeling Group Chief</a:t>
            </a:r>
          </a:p>
          <a:p>
            <a:r>
              <a:rPr lang="en-US" sz="1600">
                <a:latin typeface="Century Gothic" panose="020B0502020202020204" pitchFamily="34" charset="0"/>
              </a:rPr>
              <a:t>Reclamation’s Upper Colorado Basin Region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E177D4-CD81-E916-D891-A2728538C8D8}"/>
              </a:ext>
            </a:extLst>
          </p:cNvPr>
          <p:cNvSpPr txBox="1"/>
          <p:nvPr/>
        </p:nvSpPr>
        <p:spPr>
          <a:xfrm>
            <a:off x="5202478" y="990259"/>
            <a:ext cx="37240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entury Gothic" panose="020B0502020202020204" pitchFamily="34" charset="0"/>
              </a:rPr>
              <a:t>Ben </a:t>
            </a:r>
            <a:r>
              <a:rPr lang="en-US" sz="1600" err="1">
                <a:latin typeface="Century Gothic" panose="020B0502020202020204" pitchFamily="34" charset="0"/>
              </a:rPr>
              <a:t>Livneh</a:t>
            </a:r>
            <a:endParaRPr lang="en-US" sz="1600">
              <a:latin typeface="Century Gothic" panose="020B0502020202020204" pitchFamily="34" charset="0"/>
            </a:endParaRPr>
          </a:p>
          <a:p>
            <a:r>
              <a:rPr lang="en-US" sz="1600">
                <a:latin typeface="Century Gothic" panose="020B0502020202020204" pitchFamily="34" charset="0"/>
              </a:rPr>
              <a:t>Director, Western Water Assessment</a:t>
            </a:r>
          </a:p>
          <a:p>
            <a:r>
              <a:rPr lang="en-US" sz="1600">
                <a:latin typeface="Century Gothic" panose="020B0502020202020204" pitchFamily="34" charset="0"/>
              </a:rPr>
              <a:t>Professor, UC Boulder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DDCA69-A5F5-5544-1D21-360DCF82BD72}"/>
              </a:ext>
            </a:extLst>
          </p:cNvPr>
          <p:cNvSpPr txBox="1"/>
          <p:nvPr/>
        </p:nvSpPr>
        <p:spPr>
          <a:xfrm>
            <a:off x="5901556" y="5455059"/>
            <a:ext cx="39372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entury Gothic" panose="020B0502020202020204" pitchFamily="34" charset="0"/>
              </a:rPr>
              <a:t>Dagmar Llewellyn</a:t>
            </a:r>
          </a:p>
          <a:p>
            <a:r>
              <a:rPr lang="en-US" sz="1600">
                <a:latin typeface="Century Gothic" panose="020B0502020202020204" pitchFamily="34" charset="0"/>
              </a:rPr>
              <a:t>Senior Hydrology and Branch Chief</a:t>
            </a:r>
          </a:p>
          <a:p>
            <a:r>
              <a:rPr lang="en-US" sz="1600">
                <a:latin typeface="Century Gothic" panose="020B0502020202020204" pitchFamily="34" charset="0"/>
              </a:rPr>
              <a:t>Reclamation’s Colorado Basin Region</a:t>
            </a:r>
          </a:p>
        </p:txBody>
      </p:sp>
      <p:pic>
        <p:nvPicPr>
          <p:cNvPr id="19" name="Picture 18" descr="A close-up of a person smiling&#10;&#10;Description automatically generated">
            <a:extLst>
              <a:ext uri="{FF2B5EF4-FFF2-40B4-BE49-F238E27FC236}">
                <a16:creationId xmlns:a16="http://schemas.microsoft.com/office/drawing/2014/main" id="{F77A8DB6-637D-8E00-8B34-EF47D7739B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5183" y="3572361"/>
            <a:ext cx="1434621" cy="1926415"/>
          </a:xfrm>
          <a:prstGeom prst="rect">
            <a:avLst/>
          </a:prstGeom>
        </p:spPr>
      </p:pic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082FA1B2-09FD-1501-3017-5A41A9BBC203}"/>
              </a:ext>
            </a:extLst>
          </p:cNvPr>
          <p:cNvSpPr txBox="1">
            <a:spLocks/>
          </p:cNvSpPr>
          <p:nvPr/>
        </p:nvSpPr>
        <p:spPr>
          <a:xfrm>
            <a:off x="0" y="6483600"/>
            <a:ext cx="12192000" cy="3744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2400" b="1" i="0" kern="1200">
                <a:solidFill>
                  <a:srgbClr val="000F7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60375" indent="-230188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Arial" panose="020B0604020202020204" pitchFamily="34" charset="0"/>
              </a:defRPr>
            </a:lvl2pPr>
            <a:lvl3pPr marL="688975" indent="-23177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None/>
              <a:defRPr sz="1400" b="1" i="0" kern="120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Arial" panose="020B0604020202020204" pitchFamily="34" charset="0"/>
              </a:defRPr>
            </a:lvl3pPr>
            <a:lvl4pPr marL="914400" indent="-227013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i="0" kern="120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400" b="1" i="0" kern="120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67">
                <a:solidFill>
                  <a:srgbClr val="23B4F2"/>
                </a:solidFill>
                <a:effectLst>
                  <a:glow rad="101600">
                    <a:schemeClr val="tx1"/>
                  </a:glow>
                </a:effectLst>
              </a:rPr>
              <a:t>Workforce Development, </a:t>
            </a:r>
            <a:r>
              <a:rPr lang="en-US" sz="1867">
                <a:solidFill>
                  <a:srgbClr val="588837"/>
                </a:solidFill>
                <a:effectLst>
                  <a:glow rad="101600">
                    <a:schemeClr val="tx1"/>
                  </a:glow>
                </a:effectLst>
              </a:rPr>
              <a:t>Mission Agility, </a:t>
            </a:r>
            <a:r>
              <a:rPr lang="en-US" sz="1867">
                <a:solidFill>
                  <a:srgbClr val="8B69A6"/>
                </a:solidFill>
                <a:effectLst>
                  <a:glow rad="101600">
                    <a:schemeClr val="tx1"/>
                  </a:glow>
                </a:effectLst>
              </a:rPr>
              <a:t>Project Execution</a:t>
            </a:r>
          </a:p>
          <a:p>
            <a:pPr algn="ctr"/>
            <a:endParaRPr lang="en-US" sz="1867">
              <a:solidFill>
                <a:srgbClr val="23B4F2"/>
              </a:solidFill>
              <a:effectLst>
                <a:glow rad="101600">
                  <a:schemeClr val="tx1"/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89185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0F67689-11D8-0B94-859D-21E3666CD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37F92DF-C6CB-0484-95D3-C01A91470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93040" y="223520"/>
            <a:ext cx="11816080" cy="892208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>
                <a:latin typeface="Arial"/>
                <a:cs typeface="Arial"/>
              </a:rPr>
              <a:t>Optimizing Release: Simplest Case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D8825F4-F759-9F36-ED93-47A058A4106F}"/>
              </a:ext>
            </a:extLst>
          </p:cNvPr>
          <p:cNvGrpSpPr/>
          <p:nvPr/>
        </p:nvGrpSpPr>
        <p:grpSpPr>
          <a:xfrm>
            <a:off x="7349683" y="2662710"/>
            <a:ext cx="3700743" cy="2306834"/>
            <a:chOff x="2898043" y="2145600"/>
            <a:chExt cx="2775557" cy="173012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E191646-B292-282A-9220-1EBFD6AF46CA}"/>
                </a:ext>
              </a:extLst>
            </p:cNvPr>
            <p:cNvCxnSpPr>
              <a:cxnSpLocks/>
            </p:cNvCxnSpPr>
            <p:nvPr/>
          </p:nvCxnSpPr>
          <p:spPr>
            <a:xfrm>
              <a:off x="3326914" y="2145600"/>
              <a:ext cx="0" cy="137557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DC5E9228-10C2-527C-726C-E021F0C2A159}"/>
                </a:ext>
              </a:extLst>
            </p:cNvPr>
            <p:cNvCxnSpPr>
              <a:cxnSpLocks/>
            </p:cNvCxnSpPr>
            <p:nvPr/>
          </p:nvCxnSpPr>
          <p:spPr>
            <a:xfrm>
              <a:off x="3326914" y="3513669"/>
              <a:ext cx="2346686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881F02-B533-FAE7-3A58-66F2418AE881}"/>
                </a:ext>
              </a:extLst>
            </p:cNvPr>
            <p:cNvSpPr txBox="1"/>
            <p:nvPr/>
          </p:nvSpPr>
          <p:spPr>
            <a:xfrm>
              <a:off x="3218400" y="3621810"/>
              <a:ext cx="234720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storage (ac-ft x 10</a:t>
              </a:r>
              <a:r>
                <a:rPr lang="en-US" sz="1600" baseline="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CCA7BA6-C73B-9A11-9068-19408588DF60}"/>
                </a:ext>
              </a:extLst>
            </p:cNvPr>
            <p:cNvSpPr txBox="1"/>
            <p:nvPr/>
          </p:nvSpPr>
          <p:spPr>
            <a:xfrm rot="16200000">
              <a:off x="2351800" y="2713441"/>
              <a:ext cx="134640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reward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327262E-340A-5BBC-6F73-E0892A29E10D}"/>
                </a:ext>
              </a:extLst>
            </p:cNvPr>
            <p:cNvCxnSpPr>
              <a:cxnSpLocks/>
            </p:cNvCxnSpPr>
            <p:nvPr/>
          </p:nvCxnSpPr>
          <p:spPr>
            <a:xfrm>
              <a:off x="3326914" y="2841908"/>
              <a:ext cx="2317886" cy="0"/>
            </a:xfrm>
            <a:prstGeom prst="line">
              <a:avLst/>
            </a:prstGeom>
            <a:ln w="9525">
              <a:solidFill>
                <a:schemeClr val="accent3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ABD120C-F3F9-F3FD-A101-486B41AC7DFE}"/>
                </a:ext>
              </a:extLst>
            </p:cNvPr>
            <p:cNvSpPr txBox="1"/>
            <p:nvPr/>
          </p:nvSpPr>
          <p:spPr>
            <a:xfrm>
              <a:off x="3109762" y="2161819"/>
              <a:ext cx="22386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DFFB3BD-36B6-D996-9877-DAA2CF8FA358}"/>
                </a:ext>
              </a:extLst>
            </p:cNvPr>
            <p:cNvSpPr txBox="1"/>
            <p:nvPr/>
          </p:nvSpPr>
          <p:spPr>
            <a:xfrm>
              <a:off x="3050450" y="3243783"/>
              <a:ext cx="27555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>
                  <a:latin typeface="Arial" panose="020B0604020202020204" pitchFamily="34" charset="0"/>
                  <a:cs typeface="Arial" panose="020B0604020202020204" pitchFamily="34" charset="0"/>
                </a:rPr>
                <a:t>-1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D85568-0A58-05FE-7C62-5DCC283A53AD}"/>
                </a:ext>
              </a:extLst>
            </p:cNvPr>
            <p:cNvSpPr txBox="1"/>
            <p:nvPr/>
          </p:nvSpPr>
          <p:spPr>
            <a:xfrm>
              <a:off x="3109762" y="2702801"/>
              <a:ext cx="22386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9A60D070-DE7B-9205-D598-EB9C3210679D}"/>
                </a:ext>
              </a:extLst>
            </p:cNvPr>
            <p:cNvCxnSpPr>
              <a:cxnSpLocks/>
            </p:cNvCxnSpPr>
            <p:nvPr/>
          </p:nvCxnSpPr>
          <p:spPr>
            <a:xfrm>
              <a:off x="3319200" y="3391200"/>
              <a:ext cx="396000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E9A42D9-B1E2-6AFA-E396-C96C4C3BC9A2}"/>
                </a:ext>
              </a:extLst>
            </p:cNvPr>
            <p:cNvCxnSpPr>
              <a:cxnSpLocks/>
            </p:cNvCxnSpPr>
            <p:nvPr/>
          </p:nvCxnSpPr>
          <p:spPr>
            <a:xfrm>
              <a:off x="4803600" y="3391200"/>
              <a:ext cx="740400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2B22F36-D6E3-F695-B501-2BA509CD62EB}"/>
                </a:ext>
              </a:extLst>
            </p:cNvPr>
            <p:cNvCxnSpPr>
              <a:cxnSpLocks/>
            </p:cNvCxnSpPr>
            <p:nvPr/>
          </p:nvCxnSpPr>
          <p:spPr>
            <a:xfrm>
              <a:off x="3710400" y="2254800"/>
              <a:ext cx="1099200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6028244-82E0-4560-18C2-F92AD55589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08000" y="2253600"/>
              <a:ext cx="0" cy="113040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1A7FC144-423D-15B3-7318-29B4BE34BD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03600" y="2247600"/>
              <a:ext cx="0" cy="114480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8609EF4-801A-B0BE-62A6-A6F8C934C453}"/>
                </a:ext>
              </a:extLst>
            </p:cNvPr>
            <p:cNvSpPr txBox="1"/>
            <p:nvPr/>
          </p:nvSpPr>
          <p:spPr>
            <a:xfrm>
              <a:off x="3571200" y="3494400"/>
              <a:ext cx="209433" cy="2230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33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D1B52AE-51D8-FA77-1D99-2D32D5604A0A}"/>
                </a:ext>
              </a:extLst>
            </p:cNvPr>
            <p:cNvSpPr txBox="1"/>
            <p:nvPr/>
          </p:nvSpPr>
          <p:spPr>
            <a:xfrm>
              <a:off x="4645200" y="3494400"/>
              <a:ext cx="280365" cy="2230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33">
                  <a:latin typeface="Arial" panose="020B0604020202020204" pitchFamily="34" charset="0"/>
                  <a:cs typeface="Arial" panose="020B0604020202020204" pitchFamily="34" charset="0"/>
                </a:rPr>
                <a:t>19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8583E7D-7652-65A0-AF1B-E764A27912C4}"/>
                </a:ext>
              </a:extLst>
            </p:cNvPr>
            <p:cNvSpPr txBox="1"/>
            <p:nvPr/>
          </p:nvSpPr>
          <p:spPr>
            <a:xfrm>
              <a:off x="3199200" y="3494400"/>
              <a:ext cx="209433" cy="2230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33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</p:grp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E191646-B292-282A-9220-1EBFD6AF46CA}"/>
              </a:ext>
            </a:extLst>
          </p:cNvPr>
          <p:cNvCxnSpPr>
            <a:cxnSpLocks/>
          </p:cNvCxnSpPr>
          <p:nvPr/>
        </p:nvCxnSpPr>
        <p:spPr>
          <a:xfrm>
            <a:off x="3129924" y="2413626"/>
            <a:ext cx="0" cy="183409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C5E9228-10C2-527C-726C-E021F0C2A159}"/>
              </a:ext>
            </a:extLst>
          </p:cNvPr>
          <p:cNvCxnSpPr>
            <a:cxnSpLocks/>
          </p:cNvCxnSpPr>
          <p:nvPr/>
        </p:nvCxnSpPr>
        <p:spPr>
          <a:xfrm>
            <a:off x="3129924" y="4237717"/>
            <a:ext cx="3128915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881F02-B533-FAE7-3A58-66F2418AE881}"/>
              </a:ext>
            </a:extLst>
          </p:cNvPr>
          <p:cNvSpPr txBox="1"/>
          <p:nvPr/>
        </p:nvSpPr>
        <p:spPr>
          <a:xfrm>
            <a:off x="2985239" y="4381906"/>
            <a:ext cx="31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storage (ac-ft x 10</a:t>
            </a:r>
            <a:r>
              <a:rPr lang="en-US" sz="16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CA7BA6-C73B-9A11-9068-19408588DF60}"/>
              </a:ext>
            </a:extLst>
          </p:cNvPr>
          <p:cNvSpPr txBox="1"/>
          <p:nvPr/>
        </p:nvSpPr>
        <p:spPr>
          <a:xfrm rot="16200000">
            <a:off x="1829773" y="3170747"/>
            <a:ext cx="17952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reward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27262E-340A-5BBC-6F73-E0892A29E10D}"/>
              </a:ext>
            </a:extLst>
          </p:cNvPr>
          <p:cNvCxnSpPr>
            <a:cxnSpLocks/>
          </p:cNvCxnSpPr>
          <p:nvPr/>
        </p:nvCxnSpPr>
        <p:spPr>
          <a:xfrm>
            <a:off x="3129924" y="3342036"/>
            <a:ext cx="3090515" cy="0"/>
          </a:xfrm>
          <a:prstGeom prst="line">
            <a:avLst/>
          </a:prstGeom>
          <a:ln w="9525">
            <a:solidFill>
              <a:schemeClr val="accent3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ABD120C-F3F9-F3FD-A101-486B41AC7DFE}"/>
              </a:ext>
            </a:extLst>
          </p:cNvPr>
          <p:cNvSpPr txBox="1"/>
          <p:nvPr/>
        </p:nvSpPr>
        <p:spPr>
          <a:xfrm>
            <a:off x="2840388" y="2435251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FFB3BD-36B6-D996-9877-DAA2CF8FA358}"/>
              </a:ext>
            </a:extLst>
          </p:cNvPr>
          <p:cNvSpPr txBox="1"/>
          <p:nvPr/>
        </p:nvSpPr>
        <p:spPr>
          <a:xfrm>
            <a:off x="2761306" y="3877870"/>
            <a:ext cx="3674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D85568-0A58-05FE-7C62-5DCC283A53AD}"/>
              </a:ext>
            </a:extLst>
          </p:cNvPr>
          <p:cNvSpPr txBox="1"/>
          <p:nvPr/>
        </p:nvSpPr>
        <p:spPr>
          <a:xfrm>
            <a:off x="2840388" y="3156560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6028244-82E0-4560-18C2-F92AD5558928}"/>
              </a:ext>
            </a:extLst>
          </p:cNvPr>
          <p:cNvCxnSpPr>
            <a:cxnSpLocks/>
          </p:cNvCxnSpPr>
          <p:nvPr/>
        </p:nvCxnSpPr>
        <p:spPr>
          <a:xfrm flipV="1">
            <a:off x="3133214" y="2536723"/>
            <a:ext cx="1284748" cy="1350296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A7FC144-423D-15B3-7318-29B4BE34BD9F}"/>
              </a:ext>
            </a:extLst>
          </p:cNvPr>
          <p:cNvCxnSpPr>
            <a:cxnSpLocks/>
          </p:cNvCxnSpPr>
          <p:nvPr/>
        </p:nvCxnSpPr>
        <p:spPr>
          <a:xfrm flipH="1" flipV="1">
            <a:off x="4424517" y="2536723"/>
            <a:ext cx="1455175" cy="171081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8609EF4-801A-B0BE-62A6-A6F8C934C453}"/>
              </a:ext>
            </a:extLst>
          </p:cNvPr>
          <p:cNvSpPr txBox="1"/>
          <p:nvPr/>
        </p:nvSpPr>
        <p:spPr>
          <a:xfrm>
            <a:off x="3455639" y="4212026"/>
            <a:ext cx="279244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33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1B52AE-51D8-FA77-1D99-2D32D5604A0A}"/>
              </a:ext>
            </a:extLst>
          </p:cNvPr>
          <p:cNvSpPr txBox="1"/>
          <p:nvPr/>
        </p:nvSpPr>
        <p:spPr>
          <a:xfrm>
            <a:off x="4887639" y="4212026"/>
            <a:ext cx="373820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33">
                <a:latin typeface="Arial" panose="020B0604020202020204" pitchFamily="34" charset="0"/>
                <a:cs typeface="Arial" panose="020B0604020202020204" pitchFamily="34" charset="0"/>
              </a:rPr>
              <a:t>19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583E7D-7652-65A0-AF1B-E764A27912C4}"/>
              </a:ext>
            </a:extLst>
          </p:cNvPr>
          <p:cNvSpPr txBox="1"/>
          <p:nvPr/>
        </p:nvSpPr>
        <p:spPr>
          <a:xfrm>
            <a:off x="2959639" y="4212026"/>
            <a:ext cx="279244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33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4167C11-E083-91F3-D591-DA722A2D7F31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5074549" y="3336412"/>
            <a:ext cx="38124" cy="875614"/>
          </a:xfrm>
          <a:prstGeom prst="line">
            <a:avLst/>
          </a:prstGeom>
          <a:ln w="9525">
            <a:solidFill>
              <a:schemeClr val="accent3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D57DF00-2D7B-1413-0D80-DBF3FBBFD118}"/>
              </a:ext>
            </a:extLst>
          </p:cNvPr>
          <p:cNvCxnSpPr>
            <a:cxnSpLocks/>
          </p:cNvCxnSpPr>
          <p:nvPr/>
        </p:nvCxnSpPr>
        <p:spPr>
          <a:xfrm flipH="1">
            <a:off x="3623399" y="3362632"/>
            <a:ext cx="7880" cy="875613"/>
          </a:xfrm>
          <a:prstGeom prst="line">
            <a:avLst/>
          </a:prstGeom>
          <a:ln w="9525">
            <a:solidFill>
              <a:schemeClr val="accent3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29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</Words>
  <Application>Microsoft Office PowerPoint</Application>
  <PresentationFormat>Widescreen</PresentationFormat>
  <Paragraphs>41</Paragraphs>
  <Slides>3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Acumin Pro</vt:lpstr>
      <vt:lpstr>Aptos</vt:lpstr>
      <vt:lpstr>Aptos Display</vt:lpstr>
      <vt:lpstr>Arial</vt:lpstr>
      <vt:lpstr>Century Gothic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Shubhendu Kumar</dc:creator>
  <cp:lastModifiedBy>Singh, Shubhendu Kumar</cp:lastModifiedBy>
  <cp:revision>1</cp:revision>
  <dcterms:created xsi:type="dcterms:W3CDTF">2025-05-22T00:49:35Z</dcterms:created>
  <dcterms:modified xsi:type="dcterms:W3CDTF">2025-05-22T00:49:39Z</dcterms:modified>
</cp:coreProperties>
</file>